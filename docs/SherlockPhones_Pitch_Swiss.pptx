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00DACD22-1E32-2CFD-8BAF-CCA7C0455EBD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3"/>
    <p:restoredTop sz="94596"/>
  </p:normalViewPr>
  <p:slideViewPr>
    <p:cSldViewPr snapToGrid="0" snapToObjects="1">
      <p:cViewPr>
        <p:scale>
          <a:sx n="111" d="100"/>
          <a:sy n="111" d="100"/>
        </p:scale>
        <p:origin x="40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65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</a:t>
            </a:r>
            <a:r>
              <a:rPr lang="en-US"/>
              <a:t>Sherlock Phones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0:15–0:50 · Banks record every call for legal reasons, but staff only sample a few, 30–40 s at a time and without context, so insider trading and shared access codes go unnoticed. Automating it is hard for four reasons: Swiss German, context, change, and data that can't leave the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0:50–1:30 · Keep this or slide 3 (concept) and delete the other. LLM-based decision model.
A call is uploaded in the dashboard. The transcription API (:8001) runs Nemotron-3 diarization, then Flix Whisper large-v3 per segment. The questions API (:8002) runs Kev-4B: one score from 0 to 1 per question for the whole call, and a sliding window that pins the passage for each hit. Scores are stored per call and question.
Rules combine stored scores with AND / NOT into an alert and a category, so a new or changed rule applies to every call at once, without a new LLM run. Compliance builds rules in plain words with the AI assistant. A new question needs Kev to re-score the whole dataset, so it goes through 4-eyes approval first.
Dashboard: calls sorted by certainty, a slider for less certain hits, a filter by category, the passage to listen to, correct or wrong per finding.
Planned: finetune Kev on the judgments, finetune Whisper on SwissDial synthetic audio.
GPU: models load on first request and unload after 120 s idle; never both at once. Metric: the Analyse-UI (:7861) compares results with the Inventx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1:30–5:00 · Live demo in the dashboard:
1) Core flow: upload a call; it is transcribed and scored. Open the top call: question scores, the rule that fired, the passage to listen to.
2) Tuning: build a rule in plain words with the AI assistant (e.g. buy or sell alone → no alert) and show the effect at once. Then show that a new question waits for 4-eyes approval before Kev re-scores all calls.
3) Borderline case: a harmless call that still contains a keyword stays without alert, because no rule fires.
4) Metric: results against the Inventx assessments (Analyse-UI).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1213" y="492061"/>
            <a:ext cx="194310" cy="5829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9222" y="424053"/>
            <a:ext cx="58293" cy="19431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896112"/>
            <a:ext cx="121916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42118" y="470916"/>
            <a:ext cx="100584" cy="1005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94215" y="425196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30" dirty="0">
                <a:solidFill>
                  <a:schemeClr val="accent1"/>
                </a:solidFill>
              </a:rPr>
              <a:t>FINAL PITCH</a:t>
            </a:r>
            <a:endParaRPr lang="en-US" sz="1000" dirty="0"/>
          </a:p>
        </p:txBody>
      </p:sp>
      <p:sp>
        <p:nvSpPr>
          <p:cNvPr id="8" name="Text 6"/>
          <p:cNvSpPr>
            <a:spLocks noGrp="1"/>
          </p:cNvSpPr>
          <p:nvPr>
            <p:ph type="title" idx="106" hasCustomPrompt="1"/>
          </p:nvPr>
        </p:nvSpPr>
        <p:spPr>
          <a:xfrm>
            <a:off x="429768" y="1325880"/>
            <a:ext cx="11185855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1200" dirty="0"/>
          </a:p>
        </p:txBody>
      </p:sp>
      <p:sp>
        <p:nvSpPr>
          <p:cNvPr id="9" name="Text 6"/>
          <p:cNvSpPr>
            <a:spLocks noGrp="1"/>
          </p:cNvSpPr>
          <p:nvPr>
            <p:ph type="body" idx="107" hasCustomPrompt="1"/>
          </p:nvPr>
        </p:nvSpPr>
        <p:spPr>
          <a:xfrm>
            <a:off x="7134682" y="2532888"/>
            <a:ext cx="4554093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75399F-DB24-2D05-CEC7-0E6282BAC4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8350" y="105471"/>
            <a:ext cx="738329" cy="73832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1213" y="492061"/>
            <a:ext cx="194310" cy="5829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9222" y="424053"/>
            <a:ext cx="58293" cy="19431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2444" y="3474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Sherlock</a:t>
            </a:r>
            <a:endParaRPr lang="en-US" sz="1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Phones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121916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42118" y="470916"/>
            <a:ext cx="100584" cy="1005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94215" y="425196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30" dirty="0">
                <a:solidFill>
                  <a:schemeClr val="accent1"/>
                </a:solidFill>
              </a:rPr>
              <a:t>FINAL PITCH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11185855" cy="38405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>
            <a:spLocks noGrp="1"/>
          </p:cNvSpPr>
          <p:nvPr>
            <p:ph type="body" idx="108" hasCustomPrompt="1"/>
          </p:nvPr>
        </p:nvSpPr>
        <p:spPr>
          <a:xfrm>
            <a:off x="502920" y="1152144"/>
            <a:ext cx="1711909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1" name="Text 8"/>
          <p:cNvSpPr>
            <a:spLocks noGrp="1"/>
          </p:cNvSpPr>
          <p:nvPr>
            <p:ph type="title" idx="109" hasCustomPrompt="1"/>
          </p:nvPr>
        </p:nvSpPr>
        <p:spPr>
          <a:xfrm>
            <a:off x="2370277" y="1133856"/>
            <a:ext cx="929106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4487B9-673A-C3D3-125E-5C97237D3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8350" y="105471"/>
            <a:ext cx="738329" cy="73832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896112"/>
            <a:ext cx="121916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42118" y="470916"/>
            <a:ext cx="100584" cy="1005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94215" y="425196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30" dirty="0">
                <a:solidFill>
                  <a:schemeClr val="accent1"/>
                </a:solidFill>
              </a:rPr>
              <a:t>FINAL PITCH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11185855" cy="38405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>
            <a:spLocks noGrp="1"/>
          </p:cNvSpPr>
          <p:nvPr>
            <p:ph type="body" idx="108" hasCustomPrompt="1"/>
          </p:nvPr>
        </p:nvSpPr>
        <p:spPr>
          <a:xfrm>
            <a:off x="502920" y="3236976"/>
            <a:ext cx="1711909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1" name="Text 8"/>
          <p:cNvSpPr>
            <a:spLocks noGrp="1"/>
          </p:cNvSpPr>
          <p:nvPr>
            <p:ph type="title" idx="109" hasCustomPrompt="1"/>
          </p:nvPr>
        </p:nvSpPr>
        <p:spPr>
          <a:xfrm>
            <a:off x="2319985" y="2907792"/>
            <a:ext cx="9291066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04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C3E66387-947C-8900-0D0E-01BB213A80BD}"/>
              </a:ext>
            </a:extLst>
          </p:cNvPr>
          <p:cNvSpPr/>
          <p:nvPr userDrawn="1"/>
        </p:nvSpPr>
        <p:spPr>
          <a:xfrm>
            <a:off x="502920" y="36576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B8359F5F-DB9A-F0CF-2213-D2EF3B58AF9E}"/>
              </a:ext>
            </a:extLst>
          </p:cNvPr>
          <p:cNvSpPr/>
          <p:nvPr userDrawn="1"/>
        </p:nvSpPr>
        <p:spPr>
          <a:xfrm>
            <a:off x="561213" y="492061"/>
            <a:ext cx="194310" cy="5829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F6EBD9D7-0F65-D1BC-2D08-62BD86A84F54}"/>
              </a:ext>
            </a:extLst>
          </p:cNvPr>
          <p:cNvSpPr/>
          <p:nvPr userDrawn="1"/>
        </p:nvSpPr>
        <p:spPr>
          <a:xfrm>
            <a:off x="629222" y="424053"/>
            <a:ext cx="58293" cy="19431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6A346D5-705A-DFC9-905C-CEE6E5830E2F}"/>
              </a:ext>
            </a:extLst>
          </p:cNvPr>
          <p:cNvSpPr/>
          <p:nvPr userDrawn="1"/>
        </p:nvSpPr>
        <p:spPr>
          <a:xfrm>
            <a:off x="1062444" y="3474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Sherlock</a:t>
            </a:r>
            <a:endParaRPr lang="en-US" sz="1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Phones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64C92B-8F76-960B-B2F7-3D230B2EA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8350" y="105471"/>
            <a:ext cx="738329" cy="73832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6" hasCustomPrompt="1"/>
          </p:nvPr>
        </p:nvSpPr>
        <p:spPr>
          <a:xfrm>
            <a:off x="429768" y="1325880"/>
            <a:ext cx="111858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0"/>
              </a:lnSpc>
              <a:buNone/>
            </a:pPr>
            <a:r>
              <a:rPr lang="en-US" sz="11200" b="1" kern="0" spc="-350" dirty="0">
                <a:solidFill>
                  <a:schemeClr val="tx1"/>
                </a:solidFill>
              </a:rPr>
              <a:t>Sherlock</a:t>
            </a:r>
            <a:endParaRPr lang="en-US" sz="11200" dirty="0"/>
          </a:p>
          <a:p>
            <a:pPr marL="0" indent="0" algn="l">
              <a:lnSpc>
                <a:spcPts val="10400"/>
              </a:lnSpc>
              <a:buNone/>
            </a:pPr>
            <a:r>
              <a:rPr lang="en-US" sz="11200" b="1" kern="0" spc="-350" dirty="0">
                <a:solidFill>
                  <a:schemeClr val="tx1"/>
                </a:solidFill>
              </a:rPr>
              <a:t>Phones</a:t>
            </a:r>
            <a:endParaRPr lang="en-US" sz="11200" dirty="0"/>
          </a:p>
        </p:txBody>
      </p:sp>
      <p:sp>
        <p:nvSpPr>
          <p:cNvPr id="3" name="Tagline"/>
          <p:cNvSpPr>
            <a:spLocks noGrp="1"/>
          </p:cNvSpPr>
          <p:nvPr>
            <p:ph type="body" idx="107" hasCustomPrompt="1"/>
          </p:nvPr>
        </p:nvSpPr>
        <p:spPr>
          <a:xfrm>
            <a:off x="7134682" y="2532888"/>
            <a:ext cx="45540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Every Swiss German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bank call checked,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not just samples.</a:t>
            </a:r>
            <a:endParaRPr lang="en-US" sz="2400" dirty="0"/>
          </a:p>
        </p:txBody>
      </p:sp>
      <p:sp>
        <p:nvSpPr>
          <p:cNvPr id="4" name="Nav 1"/>
          <p:cNvSpPr txBox="1"/>
          <p:nvPr/>
        </p:nvSpPr>
        <p:spPr>
          <a:xfrm>
            <a:off x="334510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5" name="Nav 2"/>
          <p:cNvSpPr txBox="1"/>
          <p:nvPr/>
        </p:nvSpPr>
        <p:spPr>
          <a:xfrm>
            <a:off x="476242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How it works</a:t>
            </a:r>
            <a:endParaRPr lang="en-US" sz="950" dirty="0"/>
          </a:p>
        </p:txBody>
      </p:sp>
      <p:sp>
        <p:nvSpPr>
          <p:cNvPr id="6" name="Nav 3"/>
          <p:cNvSpPr txBox="1"/>
          <p:nvPr/>
        </p:nvSpPr>
        <p:spPr>
          <a:xfrm>
            <a:off x="617974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Live demo</a:t>
            </a:r>
            <a:endParaRPr lang="en-US" sz="950" dirty="0"/>
          </a:p>
        </p:txBody>
      </p:sp>
      <p:sp>
        <p:nvSpPr>
          <p:cNvPr id="7" name="Title rule"/>
          <p:cNvSpPr/>
          <p:nvPr/>
        </p:nvSpPr>
        <p:spPr>
          <a:xfrm>
            <a:off x="502920" y="3977640"/>
            <a:ext cx="11185855" cy="38405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Call scan animation" descr="Animation: a red cursor scans a call; the insider passage scores 0.94 and raises an alert. The next call has a keyword, scores 0.07 and stays without aler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78808"/>
            <a:ext cx="11185855" cy="1491447"/>
          </a:xfrm>
          <a:prstGeom prst="rect">
            <a:avLst/>
          </a:prstGeom>
        </p:spPr>
      </p:pic>
      <p:grpSp>
        <p:nvGrpSpPr>
          <p:cNvPr id="15" name="Info TEAM"/>
          <p:cNvGrpSpPr/>
          <p:nvPr/>
        </p:nvGrpSpPr>
        <p:grpSpPr>
          <a:xfrm>
            <a:off x="502920" y="5888736"/>
            <a:ext cx="6448882" cy="493776"/>
            <a:chOff x="502920" y="5888736"/>
            <a:chExt cx="6448882" cy="493776"/>
          </a:xfrm>
        </p:grpSpPr>
        <p:sp>
          <p:nvSpPr>
            <p:cNvPr id="9" name="Info TEAM · label"/>
            <p:cNvSpPr txBox="1"/>
            <p:nvPr/>
          </p:nvSpPr>
          <p:spPr>
            <a:xfrm>
              <a:off x="502920" y="5888736"/>
              <a:ext cx="644888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b="1" kern="0" spc="100" dirty="0">
                  <a:solidFill>
                    <a:schemeClr val="tx2"/>
                  </a:solidFill>
                </a:rPr>
                <a:t>TEAM</a:t>
              </a:r>
              <a:endParaRPr lang="en-US" sz="1050" dirty="0"/>
            </a:p>
          </p:txBody>
        </p:sp>
        <p:sp>
          <p:nvSpPr>
            <p:cNvPr id="10" name="Info TEAM · value"/>
            <p:cNvSpPr txBox="1"/>
            <p:nvPr/>
          </p:nvSpPr>
          <p:spPr>
            <a:xfrm>
              <a:off x="502920" y="6089904"/>
              <a:ext cx="644888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Marc-André Clénin · Benjamin Lang · Paul Schroff</a:t>
              </a:r>
              <a:endParaRPr lang="en-US" sz="1600" dirty="0"/>
            </a:p>
          </p:txBody>
        </p:sp>
      </p:grpSp>
      <p:grpSp>
        <p:nvGrpSpPr>
          <p:cNvPr id="16" name="Info CASE"/>
          <p:cNvGrpSpPr/>
          <p:nvPr/>
        </p:nvGrpSpPr>
        <p:grpSpPr>
          <a:xfrm>
            <a:off x="7134682" y="5888736"/>
            <a:ext cx="2468880" cy="493776"/>
            <a:chOff x="7134682" y="5888736"/>
            <a:chExt cx="2468880" cy="493776"/>
          </a:xfrm>
        </p:grpSpPr>
        <p:sp>
          <p:nvSpPr>
            <p:cNvPr id="11" name="Info CASE · label"/>
            <p:cNvSpPr txBox="1"/>
            <p:nvPr/>
          </p:nvSpPr>
          <p:spPr>
            <a:xfrm>
              <a:off x="7134682" y="5888736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b="1" kern="0" spc="100" dirty="0">
                  <a:solidFill>
                    <a:schemeClr val="tx2"/>
                  </a:solidFill>
                </a:rPr>
                <a:t>CASE</a:t>
              </a:r>
              <a:endParaRPr lang="en-US" sz="1050" dirty="0"/>
            </a:p>
          </p:txBody>
        </p:sp>
        <p:sp>
          <p:nvSpPr>
            <p:cNvPr id="12" name="Info CASE · value"/>
            <p:cNvSpPr txBox="1"/>
            <p:nvPr/>
          </p:nvSpPr>
          <p:spPr>
            <a:xfrm>
              <a:off x="7134682" y="6089904"/>
              <a:ext cx="2468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Inventx × Outcept</a:t>
              </a:r>
              <a:endParaRPr lang="en-US" sz="1600" dirty="0"/>
            </a:p>
          </p:txBody>
        </p:sp>
      </p:grpSp>
      <p:grpSp>
        <p:nvGrpSpPr>
          <p:cNvPr id="17" name="Info EVENT"/>
          <p:cNvGrpSpPr/>
          <p:nvPr/>
        </p:nvGrpSpPr>
        <p:grpSpPr>
          <a:xfrm>
            <a:off x="9494215" y="5888736"/>
            <a:ext cx="2194560" cy="493776"/>
            <a:chOff x="9494215" y="5888736"/>
            <a:chExt cx="2194560" cy="493776"/>
          </a:xfrm>
        </p:grpSpPr>
        <p:sp>
          <p:nvSpPr>
            <p:cNvPr id="13" name="Info EVENT · label"/>
            <p:cNvSpPr txBox="1"/>
            <p:nvPr/>
          </p:nvSpPr>
          <p:spPr>
            <a:xfrm>
              <a:off x="9494215" y="5888736"/>
              <a:ext cx="2194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050" b="1" kern="0" spc="100" dirty="0">
                  <a:solidFill>
                    <a:schemeClr val="tx2"/>
                  </a:solidFill>
                </a:rPr>
                <a:t>EVENT</a:t>
              </a:r>
              <a:endParaRPr lang="en-US" sz="1050" dirty="0"/>
            </a:p>
          </p:txBody>
        </p:sp>
        <p:sp>
          <p:nvSpPr>
            <p:cNvPr id="14" name="Info EVENT · value"/>
            <p:cNvSpPr txBox="1"/>
            <p:nvPr/>
          </p:nvSpPr>
          <p:spPr>
            <a:xfrm>
              <a:off x="9494215" y="6089904"/>
              <a:ext cx="2194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sprintd Zurich 2026</a:t>
              </a:r>
              <a:endParaRPr lang="en-US" sz="16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8" hasCustomPrompt="1"/>
          </p:nvPr>
        </p:nvSpPr>
        <p:spPr>
          <a:xfrm>
            <a:off x="502920" y="1152144"/>
            <a:ext cx="171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chemeClr val="tx1"/>
                </a:solidFill>
              </a:rPr>
              <a:t>01 THE PROBLEM</a:t>
            </a:r>
            <a:endParaRPr lang="en-US" sz="1050" dirty="0"/>
          </a:p>
        </p:txBody>
      </p:sp>
      <p:sp>
        <p:nvSpPr>
          <p:cNvPr id="3" name="Title"/>
          <p:cNvSpPr>
            <a:spLocks noGrp="1"/>
          </p:cNvSpPr>
          <p:nvPr>
            <p:ph type="title" idx="109" hasCustomPrompt="1"/>
          </p:nvPr>
        </p:nvSpPr>
        <p:spPr>
          <a:xfrm>
            <a:off x="2370277" y="1133856"/>
            <a:ext cx="929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600" b="1" kern="0" spc="-80" dirty="0">
                <a:solidFill>
                  <a:schemeClr val="tx1"/>
                </a:solidFill>
              </a:rPr>
              <a:t>Banks check samples.</a:t>
            </a:r>
            <a:endParaRPr lang="en-US" sz="36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600" b="1" kern="0" spc="-80" dirty="0">
                <a:solidFill>
                  <a:schemeClr val="accent1"/>
                </a:solidFill>
              </a:rPr>
              <a:t>Fraud hides in the rest.</a:t>
            </a:r>
            <a:endParaRPr lang="en-US" sz="3600" dirty="0"/>
          </a:p>
        </p:txBody>
      </p:sp>
      <p:sp>
        <p:nvSpPr>
          <p:cNvPr id="4" name="Nav 1"/>
          <p:cNvSpPr txBox="1"/>
          <p:nvPr/>
        </p:nvSpPr>
        <p:spPr>
          <a:xfrm>
            <a:off x="334510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5" name="Nav 2"/>
          <p:cNvSpPr txBox="1"/>
          <p:nvPr/>
        </p:nvSpPr>
        <p:spPr>
          <a:xfrm>
            <a:off x="476242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How it works</a:t>
            </a:r>
            <a:endParaRPr lang="en-US" sz="950" dirty="0"/>
          </a:p>
        </p:txBody>
      </p:sp>
      <p:sp>
        <p:nvSpPr>
          <p:cNvPr id="6" name="Nav 3"/>
          <p:cNvSpPr txBox="1"/>
          <p:nvPr/>
        </p:nvSpPr>
        <p:spPr>
          <a:xfrm>
            <a:off x="617974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Live demo</a:t>
            </a:r>
            <a:endParaRPr lang="en-US" sz="950" dirty="0"/>
          </a:p>
        </p:txBody>
      </p:sp>
      <p:pic>
        <p:nvPicPr>
          <p:cNvPr id="7" name="Calls grid" descr="Sixty calls as tiles, three rows of twenty. Most were never checke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14016"/>
            <a:ext cx="11185855" cy="991307"/>
          </a:xfrm>
          <a:prstGeom prst="rect">
            <a:avLst/>
          </a:prstGeom>
        </p:spPr>
      </p:pic>
      <p:pic>
        <p:nvPicPr>
          <p:cNvPr id="8" name="Sampled 0-5" descr="A call a reviewer sampled: one 30–40 second window heard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741" y="2414016"/>
            <a:ext cx="489534" cy="281482"/>
          </a:xfrm>
          <a:prstGeom prst="rect">
            <a:avLst/>
          </a:prstGeom>
        </p:spPr>
      </p:pic>
      <p:pic>
        <p:nvPicPr>
          <p:cNvPr id="9" name="Fraud 0-14" descr="A call with a fraud passage nobody heard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420" y="2414016"/>
            <a:ext cx="489534" cy="281482"/>
          </a:xfrm>
          <a:prstGeom prst="rect">
            <a:avLst/>
          </a:prstGeom>
        </p:spPr>
      </p:pic>
      <p:pic>
        <p:nvPicPr>
          <p:cNvPr id="10" name="Fraud 1-7" descr="A call with a fraud passage nobody heard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670" y="2768928"/>
            <a:ext cx="489534" cy="281482"/>
          </a:xfrm>
          <a:prstGeom prst="rect">
            <a:avLst/>
          </a:prstGeom>
        </p:spPr>
      </p:pic>
      <p:pic>
        <p:nvPicPr>
          <p:cNvPr id="11" name="Sampled 1-15" descr="A call a reviewer sampled: one 30–40 second window heard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7384" y="2768928"/>
            <a:ext cx="489534" cy="281482"/>
          </a:xfrm>
          <a:prstGeom prst="rect">
            <a:avLst/>
          </a:prstGeom>
        </p:spPr>
      </p:pic>
      <p:pic>
        <p:nvPicPr>
          <p:cNvPr id="12" name="Sampled 2-9" descr="A call a reviewer sampled: one 30–40 second window heard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9598" y="3123841"/>
            <a:ext cx="489534" cy="281482"/>
          </a:xfrm>
          <a:prstGeom prst="rect">
            <a:avLst/>
          </a:prstGeom>
        </p:spPr>
      </p:pic>
      <p:pic>
        <p:nvPicPr>
          <p:cNvPr id="13" name="Fraud 2-18" descr="A call with a fraud passage nobody heard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6277" y="3123841"/>
            <a:ext cx="489534" cy="281482"/>
          </a:xfrm>
          <a:prstGeom prst="rect">
            <a:avLst/>
          </a:prstGeom>
        </p:spPr>
      </p:pic>
      <p:grpSp>
        <p:nvGrpSpPr>
          <p:cNvPr id="43" name="Legend 1"/>
          <p:cNvGrpSpPr/>
          <p:nvPr/>
        </p:nvGrpSpPr>
        <p:grpSpPr>
          <a:xfrm>
            <a:off x="502920" y="3542483"/>
            <a:ext cx="1892808" cy="228600"/>
            <a:chOff x="502920" y="3542483"/>
            <a:chExt cx="1892808" cy="228600"/>
          </a:xfrm>
        </p:grpSpPr>
        <p:sp>
          <p:nvSpPr>
            <p:cNvPr id="14" name="Legend 1 · key"/>
            <p:cNvSpPr/>
            <p:nvPr/>
          </p:nvSpPr>
          <p:spPr>
            <a:xfrm>
              <a:off x="502920" y="3597347"/>
              <a:ext cx="118872" cy="11887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egend 1 · text"/>
            <p:cNvSpPr txBox="1"/>
            <p:nvPr/>
          </p:nvSpPr>
          <p:spPr>
            <a:xfrm>
              <a:off x="704088" y="3542483"/>
              <a:ext cx="1691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Sampled by a reviewer</a:t>
              </a:r>
              <a:endParaRPr lang="en-US" sz="1200" dirty="0"/>
            </a:p>
          </p:txBody>
        </p:sp>
      </p:grpSp>
      <p:grpSp>
        <p:nvGrpSpPr>
          <p:cNvPr id="44" name="Legend 2"/>
          <p:cNvGrpSpPr/>
          <p:nvPr/>
        </p:nvGrpSpPr>
        <p:grpSpPr>
          <a:xfrm>
            <a:off x="2724912" y="3542483"/>
            <a:ext cx="1892808" cy="228600"/>
            <a:chOff x="2724912" y="3542483"/>
            <a:chExt cx="1892808" cy="228600"/>
          </a:xfrm>
        </p:grpSpPr>
        <p:sp>
          <p:nvSpPr>
            <p:cNvPr id="16" name="Legend 2 · key"/>
            <p:cNvSpPr/>
            <p:nvPr/>
          </p:nvSpPr>
          <p:spPr>
            <a:xfrm>
              <a:off x="2724912" y="3597347"/>
              <a:ext cx="118872" cy="118872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egend 2 · text"/>
            <p:cNvSpPr txBox="1"/>
            <p:nvPr/>
          </p:nvSpPr>
          <p:spPr>
            <a:xfrm>
              <a:off x="2926080" y="3542483"/>
              <a:ext cx="1691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Fraud nobody heard</a:t>
              </a:r>
              <a:endParaRPr lang="en-US" sz="1200" dirty="0"/>
            </a:p>
          </p:txBody>
        </p:sp>
      </p:grpSp>
      <p:grpSp>
        <p:nvGrpSpPr>
          <p:cNvPr id="45" name="Legend 3"/>
          <p:cNvGrpSpPr/>
          <p:nvPr/>
        </p:nvGrpSpPr>
        <p:grpSpPr>
          <a:xfrm>
            <a:off x="4764024" y="3542483"/>
            <a:ext cx="1892808" cy="228600"/>
            <a:chOff x="4764024" y="3542483"/>
            <a:chExt cx="1892808" cy="228600"/>
          </a:xfrm>
        </p:grpSpPr>
        <p:sp>
          <p:nvSpPr>
            <p:cNvPr id="18" name="Legend 3 · key"/>
            <p:cNvSpPr/>
            <p:nvPr/>
          </p:nvSpPr>
          <p:spPr>
            <a:xfrm>
              <a:off x="4764024" y="3597347"/>
              <a:ext cx="118872" cy="118872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egend 3 · text"/>
            <p:cNvSpPr txBox="1"/>
            <p:nvPr/>
          </p:nvSpPr>
          <p:spPr>
            <a:xfrm>
              <a:off x="4965192" y="3542483"/>
              <a:ext cx="1691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Never checked</a:t>
              </a:r>
              <a:endParaRPr lang="en-US" sz="1200" dirty="0"/>
            </a:p>
          </p:txBody>
        </p:sp>
      </p:grpSp>
      <p:grpSp>
        <p:nvGrpSpPr>
          <p:cNvPr id="46" name="Caption"/>
          <p:cNvGrpSpPr/>
          <p:nvPr/>
        </p:nvGrpSpPr>
        <p:grpSpPr>
          <a:xfrm>
            <a:off x="502920" y="3926531"/>
            <a:ext cx="11185855" cy="548640"/>
            <a:chOff x="502920" y="3926531"/>
            <a:chExt cx="11185855" cy="548640"/>
          </a:xfrm>
        </p:grpSpPr>
        <p:sp>
          <p:nvSpPr>
            <p:cNvPr id="20" name="Caption · label"/>
            <p:cNvSpPr txBox="1"/>
            <p:nvPr/>
          </p:nvSpPr>
          <p:spPr>
            <a:xfrm>
              <a:off x="502920" y="3963107"/>
              <a:ext cx="1711909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kern="0" spc="100" dirty="0">
                  <a:solidFill>
                    <a:schemeClr val="tx1"/>
                  </a:solidFill>
                </a:rPr>
                <a:t>EACH TILE IS A CALL</a:t>
              </a:r>
              <a:endParaRPr lang="en-US" sz="1050" dirty="0"/>
            </a:p>
          </p:txBody>
        </p:sp>
        <p:sp>
          <p:nvSpPr>
            <p:cNvPr id="21" name="Caption · text"/>
            <p:cNvSpPr txBox="1"/>
            <p:nvPr/>
          </p:nvSpPr>
          <p:spPr>
            <a:xfrm>
              <a:off x="2397709" y="3926531"/>
              <a:ext cx="929106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Reviewers sample a few, 30–40 s at a time, without what came before. Insider trading and shared access codes slip through, on both ends of the line.</a:t>
              </a:r>
              <a:endParaRPr lang="en-US" sz="1600" dirty="0"/>
            </a:p>
          </p:txBody>
        </p:sp>
      </p:grpSp>
      <p:sp>
        <p:nvSpPr>
          <p:cNvPr id="22" name="Reasons label"/>
          <p:cNvSpPr txBox="1"/>
          <p:nvPr/>
        </p:nvSpPr>
        <p:spPr>
          <a:xfrm>
            <a:off x="502920" y="4663440"/>
            <a:ext cx="550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tx1"/>
                </a:solidFill>
              </a:rPr>
              <a:t>WHY AUTOMATING IT IS HARD</a:t>
            </a:r>
            <a:endParaRPr lang="en-US" sz="1050" dirty="0"/>
          </a:p>
        </p:txBody>
      </p:sp>
      <p:grpSp>
        <p:nvGrpSpPr>
          <p:cNvPr id="47" name="Reason 1"/>
          <p:cNvGrpSpPr/>
          <p:nvPr/>
        </p:nvGrpSpPr>
        <p:grpSpPr>
          <a:xfrm>
            <a:off x="502920" y="4919472"/>
            <a:ext cx="2659304" cy="1517904"/>
            <a:chOff x="502920" y="4919472"/>
            <a:chExt cx="2659304" cy="1517904"/>
          </a:xfrm>
        </p:grpSpPr>
        <p:sp>
          <p:nvSpPr>
            <p:cNvPr id="23" name="Reason 1 · rule"/>
            <p:cNvSpPr/>
            <p:nvPr/>
          </p:nvSpPr>
          <p:spPr>
            <a:xfrm>
              <a:off x="502920" y="4919472"/>
              <a:ext cx="2659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ason 1 · badge"/>
            <p:cNvSpPr/>
            <p:nvPr/>
          </p:nvSpPr>
          <p:spPr>
            <a:xfrm>
              <a:off x="502920" y="5047488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ason 1 · number"/>
            <p:cNvSpPr txBox="1"/>
            <p:nvPr/>
          </p:nvSpPr>
          <p:spPr>
            <a:xfrm>
              <a:off x="502920" y="50474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</a:rPr>
                <a:t>1</a:t>
              </a:r>
              <a:endParaRPr lang="en-US" sz="1200" dirty="0"/>
            </a:p>
          </p:txBody>
        </p:sp>
        <p:sp>
          <p:nvSpPr>
            <p:cNvPr id="26" name="Reason 1 · heading"/>
            <p:cNvSpPr txBox="1"/>
            <p:nvPr/>
          </p:nvSpPr>
          <p:spPr>
            <a:xfrm>
              <a:off x="896112" y="5020056"/>
              <a:ext cx="22661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Swiss German</a:t>
              </a:r>
              <a:endParaRPr lang="en-US" sz="1800" dirty="0"/>
            </a:p>
          </p:txBody>
        </p:sp>
        <p:sp>
          <p:nvSpPr>
            <p:cNvPr id="27" name="Reason 1 · body"/>
            <p:cNvSpPr txBox="1"/>
            <p:nvPr/>
          </p:nvSpPr>
          <p:spPr>
            <a:xfrm>
              <a:off x="502920" y="5431536"/>
              <a:ext cx="26593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Many dialects, no written standard. Speech models break down beyond Zurich and Bern.</a:t>
              </a:r>
              <a:endParaRPr lang="en-US" sz="1400" dirty="0"/>
            </a:p>
          </p:txBody>
        </p:sp>
      </p:grpSp>
      <p:grpSp>
        <p:nvGrpSpPr>
          <p:cNvPr id="48" name="Reason 2"/>
          <p:cNvGrpSpPr/>
          <p:nvPr/>
        </p:nvGrpSpPr>
        <p:grpSpPr>
          <a:xfrm>
            <a:off x="3345104" y="4919472"/>
            <a:ext cx="2659304" cy="1517904"/>
            <a:chOff x="3345104" y="4919472"/>
            <a:chExt cx="2659304" cy="1517904"/>
          </a:xfrm>
        </p:grpSpPr>
        <p:sp>
          <p:nvSpPr>
            <p:cNvPr id="28" name="Reason 2 · rule"/>
            <p:cNvSpPr/>
            <p:nvPr/>
          </p:nvSpPr>
          <p:spPr>
            <a:xfrm>
              <a:off x="3345104" y="4919472"/>
              <a:ext cx="2659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ason 2 · badge"/>
            <p:cNvSpPr/>
            <p:nvPr/>
          </p:nvSpPr>
          <p:spPr>
            <a:xfrm>
              <a:off x="3345104" y="5047488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ason 2 · number"/>
            <p:cNvSpPr txBox="1"/>
            <p:nvPr/>
          </p:nvSpPr>
          <p:spPr>
            <a:xfrm>
              <a:off x="3345104" y="50474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</a:rPr>
                <a:t>2</a:t>
              </a:r>
              <a:endParaRPr lang="en-US" sz="1200" dirty="0"/>
            </a:p>
          </p:txBody>
        </p:sp>
        <p:sp>
          <p:nvSpPr>
            <p:cNvPr id="31" name="Reason 2 · heading"/>
            <p:cNvSpPr txBox="1"/>
            <p:nvPr/>
          </p:nvSpPr>
          <p:spPr>
            <a:xfrm>
              <a:off x="3738296" y="5020056"/>
              <a:ext cx="22661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Context</a:t>
              </a:r>
              <a:endParaRPr lang="en-US" sz="1800" dirty="0"/>
            </a:p>
          </p:txBody>
        </p:sp>
        <p:sp>
          <p:nvSpPr>
            <p:cNvPr id="32" name="Reason 2 · body"/>
            <p:cNvSpPr txBox="1"/>
            <p:nvPr/>
          </p:nvSpPr>
          <p:spPr>
            <a:xfrm>
              <a:off x="3345104" y="5431536"/>
              <a:ext cx="26593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The same sentence can be harmless or fraud. Keywords alone raise false alarms.</a:t>
              </a:r>
              <a:endParaRPr lang="en-US" sz="1400" dirty="0"/>
            </a:p>
          </p:txBody>
        </p:sp>
      </p:grpSp>
      <p:grpSp>
        <p:nvGrpSpPr>
          <p:cNvPr id="49" name="Reason 3"/>
          <p:cNvGrpSpPr/>
          <p:nvPr/>
        </p:nvGrpSpPr>
        <p:grpSpPr>
          <a:xfrm>
            <a:off x="6187288" y="4919472"/>
            <a:ext cx="2659304" cy="1517904"/>
            <a:chOff x="6187288" y="4919472"/>
            <a:chExt cx="2659304" cy="1517904"/>
          </a:xfrm>
        </p:grpSpPr>
        <p:sp>
          <p:nvSpPr>
            <p:cNvPr id="33" name="Reason 3 · rule"/>
            <p:cNvSpPr/>
            <p:nvPr/>
          </p:nvSpPr>
          <p:spPr>
            <a:xfrm>
              <a:off x="6187288" y="4919472"/>
              <a:ext cx="2659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ason 3 · badge"/>
            <p:cNvSpPr/>
            <p:nvPr/>
          </p:nvSpPr>
          <p:spPr>
            <a:xfrm>
              <a:off x="6187288" y="5047488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ason 3 · number"/>
            <p:cNvSpPr txBox="1"/>
            <p:nvPr/>
          </p:nvSpPr>
          <p:spPr>
            <a:xfrm>
              <a:off x="6187288" y="50474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</a:rPr>
                <a:t>3</a:t>
              </a:r>
              <a:endParaRPr lang="en-US" sz="1200" dirty="0"/>
            </a:p>
          </p:txBody>
        </p:sp>
        <p:sp>
          <p:nvSpPr>
            <p:cNvPr id="36" name="Reason 3 · heading"/>
            <p:cNvSpPr txBox="1"/>
            <p:nvPr/>
          </p:nvSpPr>
          <p:spPr>
            <a:xfrm>
              <a:off x="6580480" y="5020056"/>
              <a:ext cx="22661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Change</a:t>
              </a:r>
              <a:endParaRPr lang="en-US" sz="1800" dirty="0"/>
            </a:p>
          </p:txBody>
        </p:sp>
        <p:sp>
          <p:nvSpPr>
            <p:cNvPr id="37" name="Reason 3 · body"/>
            <p:cNvSpPr txBox="1"/>
            <p:nvPr/>
          </p:nvSpPr>
          <p:spPr>
            <a:xfrm>
              <a:off x="6187288" y="5431536"/>
              <a:ext cx="26593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Laws and fraud patterns change. Checks must adapt without new code.</a:t>
              </a:r>
              <a:endParaRPr lang="en-US" sz="1400" dirty="0"/>
            </a:p>
          </p:txBody>
        </p:sp>
      </p:grpSp>
      <p:grpSp>
        <p:nvGrpSpPr>
          <p:cNvPr id="50" name="Reason 4"/>
          <p:cNvGrpSpPr/>
          <p:nvPr/>
        </p:nvGrpSpPr>
        <p:grpSpPr>
          <a:xfrm>
            <a:off x="9029471" y="4919472"/>
            <a:ext cx="2659304" cy="1517904"/>
            <a:chOff x="9029471" y="4919472"/>
            <a:chExt cx="2659304" cy="1517904"/>
          </a:xfrm>
        </p:grpSpPr>
        <p:sp>
          <p:nvSpPr>
            <p:cNvPr id="38" name="Reason 4 · rule"/>
            <p:cNvSpPr/>
            <p:nvPr/>
          </p:nvSpPr>
          <p:spPr>
            <a:xfrm>
              <a:off x="9029471" y="4919472"/>
              <a:ext cx="2659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ason 4 · badge"/>
            <p:cNvSpPr/>
            <p:nvPr/>
          </p:nvSpPr>
          <p:spPr>
            <a:xfrm>
              <a:off x="9029471" y="5047488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ason 4 · number"/>
            <p:cNvSpPr txBox="1"/>
            <p:nvPr/>
          </p:nvSpPr>
          <p:spPr>
            <a:xfrm>
              <a:off x="9029471" y="50474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</a:rPr>
                <a:t>4</a:t>
              </a:r>
              <a:endParaRPr lang="en-US" sz="1200" dirty="0"/>
            </a:p>
          </p:txBody>
        </p:sp>
        <p:sp>
          <p:nvSpPr>
            <p:cNvPr id="41" name="Reason 4 · heading"/>
            <p:cNvSpPr txBox="1"/>
            <p:nvPr/>
          </p:nvSpPr>
          <p:spPr>
            <a:xfrm>
              <a:off x="9422663" y="5020056"/>
              <a:ext cx="22661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Inside the bank</a:t>
              </a:r>
              <a:endParaRPr lang="en-US" sz="1800" dirty="0"/>
            </a:p>
          </p:txBody>
        </p:sp>
        <p:sp>
          <p:nvSpPr>
            <p:cNvPr id="42" name="Reason 4 · body"/>
            <p:cNvSpPr txBox="1"/>
            <p:nvPr/>
          </p:nvSpPr>
          <p:spPr>
            <a:xfrm>
              <a:off x="9029471" y="5431536"/>
              <a:ext cx="26593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Call data can't leave the bank. Every model has to run</a:t>
              </a:r>
              <a:endParaRPr lang="en-US" sz="14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self-hosted.</a:t>
              </a:r>
              <a:endParaRPr lang="en-US" sz="14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8" hasCustomPrompt="1"/>
          </p:nvPr>
        </p:nvSpPr>
        <p:spPr>
          <a:xfrm>
            <a:off x="502920" y="1152144"/>
            <a:ext cx="171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chemeClr val="tx1"/>
                </a:solidFill>
              </a:rPr>
              <a:t>02 HOW IT WORKS</a:t>
            </a:r>
            <a:endParaRPr lang="en-US" sz="1050" dirty="0"/>
          </a:p>
        </p:txBody>
      </p:sp>
      <p:sp>
        <p:nvSpPr>
          <p:cNvPr id="3" name="Title"/>
          <p:cNvSpPr>
            <a:spLocks noGrp="1"/>
          </p:cNvSpPr>
          <p:nvPr>
            <p:ph type="title" idx="109" hasCustomPrompt="1"/>
          </p:nvPr>
        </p:nvSpPr>
        <p:spPr>
          <a:xfrm>
            <a:off x="2370277" y="1133856"/>
            <a:ext cx="929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600" b="1" kern="0" spc="-80" dirty="0">
                <a:solidFill>
                  <a:schemeClr val="tx1"/>
                </a:solidFill>
              </a:rPr>
              <a:t>Kev scores, Qwen pinpoints,</a:t>
            </a:r>
            <a:endParaRPr lang="en-US" sz="36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600" b="1" kern="0" spc="-80" dirty="0">
                <a:solidFill>
                  <a:schemeClr val="accent1"/>
                </a:solidFill>
              </a:rPr>
              <a:t>rules decide.</a:t>
            </a:r>
            <a:endParaRPr lang="en-US" sz="3600" dirty="0"/>
          </a:p>
        </p:txBody>
      </p:sp>
      <p:sp>
        <p:nvSpPr>
          <p:cNvPr id="4" name="Nav 1"/>
          <p:cNvSpPr txBox="1"/>
          <p:nvPr/>
        </p:nvSpPr>
        <p:spPr>
          <a:xfrm>
            <a:off x="334510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5" name="Nav 2"/>
          <p:cNvSpPr txBox="1"/>
          <p:nvPr/>
        </p:nvSpPr>
        <p:spPr>
          <a:xfrm>
            <a:off x="476242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How it works</a:t>
            </a:r>
            <a:endParaRPr lang="en-US" sz="950" dirty="0"/>
          </a:p>
        </p:txBody>
      </p:sp>
      <p:sp>
        <p:nvSpPr>
          <p:cNvPr id="6" name="Nav 3"/>
          <p:cNvSpPr txBox="1"/>
          <p:nvPr/>
        </p:nvSpPr>
        <p:spPr>
          <a:xfrm>
            <a:off x="617974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Live demo</a:t>
            </a:r>
            <a:endParaRPr lang="en-US" sz="950" dirty="0"/>
          </a:p>
        </p:txBody>
      </p:sp>
      <p:grpSp>
        <p:nvGrpSpPr>
          <p:cNvPr id="79" name="Env"/>
          <p:cNvGrpSpPr/>
          <p:nvPr/>
        </p:nvGrpSpPr>
        <p:grpSpPr>
          <a:xfrm>
            <a:off x="502920" y="2251253"/>
            <a:ext cx="11185855" cy="4240987"/>
            <a:chOff x="502920" y="2251253"/>
            <a:chExt cx="11185855" cy="4240987"/>
          </a:xfrm>
        </p:grpSpPr>
        <p:sp>
          <p:nvSpPr>
            <p:cNvPr id="7" name="Env · left"/>
            <p:cNvSpPr/>
            <p:nvPr/>
          </p:nvSpPr>
          <p:spPr>
            <a:xfrm>
              <a:off x="502920" y="2251253"/>
              <a:ext cx="0" cy="424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Env · right"/>
            <p:cNvSpPr/>
            <p:nvPr/>
          </p:nvSpPr>
          <p:spPr>
            <a:xfrm>
              <a:off x="11688775" y="2251253"/>
              <a:ext cx="0" cy="424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Env · bottom"/>
            <p:cNvSpPr/>
            <p:nvPr/>
          </p:nvSpPr>
          <p:spPr>
            <a:xfrm>
              <a:off x="502920" y="6492240"/>
              <a:ext cx="111858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Env · label"/>
            <p:cNvSpPr txBox="1"/>
            <p:nvPr/>
          </p:nvSpPr>
          <p:spPr>
            <a:xfrm>
              <a:off x="685800" y="2388413"/>
              <a:ext cx="7315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00" dirty="0">
                  <a:solidFill>
                    <a:srgbClr val="000000"/>
                  </a:solidFill>
                </a:rPr>
                <a:t>SECURED ENVIRONMENT</a:t>
              </a:r>
              <a:endParaRPr lang="en-US" sz="1050" dirty="0"/>
            </a:p>
          </p:txBody>
        </p:sp>
      </p:grpSp>
      <p:grpSp>
        <p:nvGrpSpPr>
          <p:cNvPr id="80" name="Col 1"/>
          <p:cNvGrpSpPr/>
          <p:nvPr/>
        </p:nvGrpSpPr>
        <p:grpSpPr>
          <a:xfrm>
            <a:off x="685800" y="2679192"/>
            <a:ext cx="1600200" cy="338328"/>
            <a:chOff x="685800" y="2679192"/>
            <a:chExt cx="1600200" cy="338328"/>
          </a:xfrm>
        </p:grpSpPr>
        <p:sp>
          <p:nvSpPr>
            <p:cNvPr id="11" name="Col 1 · name"/>
            <p:cNvSpPr txBox="1"/>
            <p:nvPr/>
          </p:nvSpPr>
          <p:spPr>
            <a:xfrm>
              <a:off x="685800" y="267919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</a:rPr>
                <a:t>Input</a:t>
              </a:r>
              <a:endParaRPr lang="en-US" sz="1500" dirty="0"/>
            </a:p>
          </p:txBody>
        </p:sp>
        <p:sp>
          <p:nvSpPr>
            <p:cNvPr id="12" name="Col 1 · rule"/>
            <p:cNvSpPr/>
            <p:nvPr/>
          </p:nvSpPr>
          <p:spPr>
            <a:xfrm>
              <a:off x="685800" y="301752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Col 2"/>
          <p:cNvGrpSpPr/>
          <p:nvPr/>
        </p:nvGrpSpPr>
        <p:grpSpPr>
          <a:xfrm>
            <a:off x="2633472" y="2679192"/>
            <a:ext cx="2725826" cy="338328"/>
            <a:chOff x="2633472" y="2679192"/>
            <a:chExt cx="2725826" cy="338328"/>
          </a:xfrm>
        </p:grpSpPr>
        <p:sp>
          <p:nvSpPr>
            <p:cNvPr id="13" name="Col 2 · name"/>
            <p:cNvSpPr txBox="1"/>
            <p:nvPr/>
          </p:nvSpPr>
          <p:spPr>
            <a:xfrm>
              <a:off x="2633472" y="2679192"/>
              <a:ext cx="272582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</a:rPr>
                <a:t>Transcription</a:t>
              </a:r>
              <a:endParaRPr lang="en-US" sz="1500" dirty="0"/>
            </a:p>
          </p:txBody>
        </p:sp>
        <p:sp>
          <p:nvSpPr>
            <p:cNvPr id="15" name="Col 2 · rule"/>
            <p:cNvSpPr/>
            <p:nvPr/>
          </p:nvSpPr>
          <p:spPr>
            <a:xfrm>
              <a:off x="2633472" y="3017520"/>
              <a:ext cx="27258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25A349F-29D9-7EDE-86F6-B008F9A75D64}"/>
              </a:ext>
            </a:extLst>
          </p:cNvPr>
          <p:cNvGrpSpPr/>
          <p:nvPr/>
        </p:nvGrpSpPr>
        <p:grpSpPr>
          <a:xfrm>
            <a:off x="5706770" y="2679192"/>
            <a:ext cx="2725826" cy="338328"/>
            <a:chOff x="5706770" y="2679192"/>
            <a:chExt cx="2725826" cy="338328"/>
          </a:xfrm>
        </p:grpSpPr>
        <p:sp>
          <p:nvSpPr>
            <p:cNvPr id="16" name="Col 3 · name"/>
            <p:cNvSpPr txBox="1"/>
            <p:nvPr/>
          </p:nvSpPr>
          <p:spPr>
            <a:xfrm>
              <a:off x="5706770" y="2679192"/>
              <a:ext cx="272582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</a:rPr>
                <a:t>Detection</a:t>
              </a:r>
              <a:endParaRPr lang="en-US" sz="1500" dirty="0"/>
            </a:p>
          </p:txBody>
        </p:sp>
        <p:sp>
          <p:nvSpPr>
            <p:cNvPr id="18" name="Col 3 · rule"/>
            <p:cNvSpPr/>
            <p:nvPr/>
          </p:nvSpPr>
          <p:spPr>
            <a:xfrm>
              <a:off x="5706770" y="3017520"/>
              <a:ext cx="27258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676AB1A-AF78-1737-F13B-51984876D3BC}"/>
              </a:ext>
            </a:extLst>
          </p:cNvPr>
          <p:cNvGrpSpPr/>
          <p:nvPr/>
        </p:nvGrpSpPr>
        <p:grpSpPr>
          <a:xfrm>
            <a:off x="8780069" y="2679192"/>
            <a:ext cx="2725826" cy="338328"/>
            <a:chOff x="8780069" y="2679192"/>
            <a:chExt cx="2725826" cy="338328"/>
          </a:xfrm>
        </p:grpSpPr>
        <p:sp>
          <p:nvSpPr>
            <p:cNvPr id="19" name="Col 4 · name"/>
            <p:cNvSpPr txBox="1"/>
            <p:nvPr/>
          </p:nvSpPr>
          <p:spPr>
            <a:xfrm>
              <a:off x="8780069" y="2679192"/>
              <a:ext cx="272582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</a:rPr>
                <a:t>Rules &amp; Dashboard</a:t>
              </a:r>
              <a:endParaRPr lang="en-US" sz="1500" dirty="0"/>
            </a:p>
          </p:txBody>
        </p:sp>
        <p:sp>
          <p:nvSpPr>
            <p:cNvPr id="21" name="Col 4 · rule"/>
            <p:cNvSpPr/>
            <p:nvPr/>
          </p:nvSpPr>
          <p:spPr>
            <a:xfrm>
              <a:off x="8780069" y="3017520"/>
              <a:ext cx="27258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Call recording"/>
          <p:cNvSpPr txBox="1"/>
          <p:nvPr/>
        </p:nvSpPr>
        <p:spPr>
          <a:xfrm>
            <a:off x="685800" y="3163824"/>
            <a:ext cx="160020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Call recording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.wav upload/sync</a:t>
            </a:r>
            <a:endParaRPr lang="en-US" sz="1400" dirty="0"/>
          </a:p>
        </p:txBody>
      </p:sp>
      <p:sp>
        <p:nvSpPr>
          <p:cNvPr id="23" name="Whisper"/>
          <p:cNvSpPr txBox="1"/>
          <p:nvPr/>
        </p:nvSpPr>
        <p:spPr>
          <a:xfrm>
            <a:off x="2633472" y="3163824"/>
            <a:ext cx="2725826" cy="5486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Whisper large-v3 (finetuned)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bg1"/>
                </a:solidFill>
              </a:rPr>
              <a:t>Swiss German → German text</a:t>
            </a:r>
            <a:endParaRPr lang="en-US" sz="1400" dirty="0"/>
          </a:p>
        </p:txBody>
      </p:sp>
      <p:sp>
        <p:nvSpPr>
          <p:cNvPr id="24" name="Sherpa-onnx"/>
          <p:cNvSpPr txBox="1"/>
          <p:nvPr/>
        </p:nvSpPr>
        <p:spPr>
          <a:xfrm>
            <a:off x="2633472" y="3858768"/>
            <a:ext cx="2725826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Sherpa-onnx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speech segments</a:t>
            </a:r>
            <a:endParaRPr lang="en-US" sz="1400" dirty="0"/>
          </a:p>
        </p:txBody>
      </p:sp>
      <p:sp>
        <p:nvSpPr>
          <p:cNvPr id="25" name="Kev speaker"/>
          <p:cNvSpPr txBox="1"/>
          <p:nvPr/>
        </p:nvSpPr>
        <p:spPr>
          <a:xfrm>
            <a:off x="2633472" y="4553712"/>
            <a:ext cx="2725826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Qwen 3.8 3B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speaker identification</a:t>
            </a:r>
            <a:endParaRPr lang="en-US" sz="1400" dirty="0"/>
          </a:p>
        </p:txBody>
      </p:sp>
      <p:sp>
        <p:nvSpPr>
          <p:cNvPr id="26" name="Transcript"/>
          <p:cNvSpPr txBox="1"/>
          <p:nvPr/>
        </p:nvSpPr>
        <p:spPr>
          <a:xfrm>
            <a:off x="2633472" y="5248656"/>
            <a:ext cx="2725826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Transcript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text · timestamps · speaker</a:t>
            </a:r>
            <a:endParaRPr lang="en-US" sz="1400" dirty="0"/>
          </a:p>
        </p:txBody>
      </p:sp>
      <p:sp>
        <p:nvSpPr>
          <p:cNvPr id="27" name="Score table"/>
          <p:cNvSpPr txBox="1"/>
          <p:nvPr/>
        </p:nvSpPr>
        <p:spPr>
          <a:xfrm>
            <a:off x="5706770" y="3163824"/>
            <a:ext cx="2725826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Score table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call × fact</a:t>
            </a:r>
            <a:endParaRPr lang="en-US" sz="1400" dirty="0"/>
          </a:p>
        </p:txBody>
      </p:sp>
      <p:sp>
        <p:nvSpPr>
          <p:cNvPr id="28" name="Sliding window"/>
          <p:cNvSpPr txBox="1"/>
          <p:nvPr/>
        </p:nvSpPr>
        <p:spPr>
          <a:xfrm>
            <a:off x="5706770" y="4130596"/>
            <a:ext cx="2725826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Kev-4B · sliding window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passage per hit</a:t>
            </a:r>
            <a:endParaRPr lang="en-US" sz="1400" dirty="0"/>
          </a:p>
        </p:txBody>
      </p:sp>
      <p:sp>
        <p:nvSpPr>
          <p:cNvPr id="29" name="Fact check"/>
          <p:cNvSpPr txBox="1"/>
          <p:nvPr/>
        </p:nvSpPr>
        <p:spPr>
          <a:xfrm>
            <a:off x="5706770" y="5031162"/>
            <a:ext cx="2725826" cy="768096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Kev-4B (finetuned) +</a:t>
            </a:r>
            <a:endParaRPr lang="en-US" sz="1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Qwen 3.8 3B · fact check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bg1"/>
                </a:solidFill>
              </a:rPr>
              <a:t>score 0–1, whole call</a:t>
            </a:r>
            <a:endParaRPr lang="en-US" sz="1400" dirty="0"/>
          </a:p>
        </p:txBody>
      </p:sp>
      <p:sp>
        <p:nvSpPr>
          <p:cNvPr id="30" name="Rules"/>
          <p:cNvSpPr txBox="1"/>
          <p:nvPr/>
        </p:nvSpPr>
        <p:spPr>
          <a:xfrm>
            <a:off x="8780069" y="3163824"/>
            <a:ext cx="2524658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Rules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bg1"/>
                </a:solidFill>
              </a:rPr>
              <a:t>AND / NOT over scores → alert</a:t>
            </a:r>
            <a:endParaRPr lang="en-US" sz="1400" dirty="0"/>
          </a:p>
        </p:txBody>
      </p:sp>
      <p:sp>
        <p:nvSpPr>
          <p:cNvPr id="31" name="Categorized calls"/>
          <p:cNvSpPr txBox="1"/>
          <p:nvPr/>
        </p:nvSpPr>
        <p:spPr>
          <a:xfrm>
            <a:off x="8780069" y="3858768"/>
            <a:ext cx="2524658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Categorized calls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slider · filter · listen · judge</a:t>
            </a:r>
            <a:endParaRPr lang="en-US" sz="1400" dirty="0"/>
          </a:p>
        </p:txBody>
      </p:sp>
      <p:sp>
        <p:nvSpPr>
          <p:cNvPr id="32" name="Rule builder"/>
          <p:cNvSpPr txBox="1"/>
          <p:nvPr/>
        </p:nvSpPr>
        <p:spPr>
          <a:xfrm>
            <a:off x="8780069" y="4553712"/>
            <a:ext cx="2524658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Rule builder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plain words + AI assistant</a:t>
            </a:r>
            <a:endParaRPr lang="en-US" sz="1400" dirty="0"/>
          </a:p>
        </p:txBody>
      </p:sp>
      <p:sp>
        <p:nvSpPr>
          <p:cNvPr id="33" name="Fact builder"/>
          <p:cNvSpPr txBox="1"/>
          <p:nvPr/>
        </p:nvSpPr>
        <p:spPr>
          <a:xfrm>
            <a:off x="8780069" y="5248656"/>
            <a:ext cx="2524658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ysDash"/>
          </a:ln>
        </p:spPr>
        <p:txBody>
          <a:bodyPr wrap="square" lIns="101600" tIns="88900" rIns="114300" bIns="7620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Fact builder</a:t>
            </a:r>
            <a:endParaRPr lang="en-US" sz="1400" dirty="0"/>
          </a:p>
          <a:p>
            <a:pPr marL="0" indent="0">
              <a:lnSpc>
                <a:spcPct val="980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chemeClr val="tx2"/>
                </a:solidFill>
              </a:rPr>
              <a:t>4-eyes, then all calls scored</a:t>
            </a:r>
            <a:endParaRPr lang="en-US" sz="1400" dirty="0"/>
          </a:p>
        </p:txBody>
      </p:sp>
      <p:sp>
        <p:nvSpPr>
          <p:cNvPr id="34" name="Flow 01"/>
          <p:cNvSpPr/>
          <p:nvPr/>
        </p:nvSpPr>
        <p:spPr>
          <a:xfrm>
            <a:off x="2286000" y="3438144"/>
            <a:ext cx="34747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Flow 02"/>
          <p:cNvSpPr/>
          <p:nvPr/>
        </p:nvSpPr>
        <p:spPr>
          <a:xfrm>
            <a:off x="3996385" y="3712464"/>
            <a:ext cx="0" cy="1463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Flow 03"/>
          <p:cNvSpPr/>
          <p:nvPr/>
        </p:nvSpPr>
        <p:spPr>
          <a:xfrm>
            <a:off x="3996385" y="4407408"/>
            <a:ext cx="0" cy="1463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Flow 04"/>
          <p:cNvSpPr/>
          <p:nvPr/>
        </p:nvSpPr>
        <p:spPr>
          <a:xfrm>
            <a:off x="3996385" y="5102352"/>
            <a:ext cx="0" cy="1463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Flow 05"/>
          <p:cNvSpPr/>
          <p:nvPr/>
        </p:nvSpPr>
        <p:spPr>
          <a:xfrm>
            <a:off x="5359298" y="5522976"/>
            <a:ext cx="34747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Flow 06"/>
          <p:cNvSpPr/>
          <p:nvPr/>
        </p:nvSpPr>
        <p:spPr>
          <a:xfrm flipH="1">
            <a:off x="7069682" y="4679236"/>
            <a:ext cx="2" cy="34747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Flow 07"/>
          <p:cNvSpPr/>
          <p:nvPr/>
        </p:nvSpPr>
        <p:spPr>
          <a:xfrm flipH="1">
            <a:off x="7069682" y="3712464"/>
            <a:ext cx="2" cy="41367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Flow 08"/>
          <p:cNvSpPr/>
          <p:nvPr/>
        </p:nvSpPr>
        <p:spPr>
          <a:xfrm>
            <a:off x="8432597" y="3438144"/>
            <a:ext cx="34747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Flow 09"/>
          <p:cNvSpPr/>
          <p:nvPr/>
        </p:nvSpPr>
        <p:spPr>
          <a:xfrm>
            <a:off x="10042398" y="3712464"/>
            <a:ext cx="0" cy="1463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Custom fact"/>
          <p:cNvSpPr/>
          <p:nvPr/>
        </p:nvSpPr>
        <p:spPr>
          <a:xfrm>
            <a:off x="8432597" y="5522976"/>
            <a:ext cx="34747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84" name="Loop"/>
          <p:cNvGrpSpPr/>
          <p:nvPr/>
        </p:nvGrpSpPr>
        <p:grpSpPr>
          <a:xfrm>
            <a:off x="11304727" y="3438144"/>
            <a:ext cx="120701" cy="1389888"/>
            <a:chOff x="11304727" y="3438144"/>
            <a:chExt cx="120701" cy="1389888"/>
          </a:xfrm>
        </p:grpSpPr>
        <p:sp>
          <p:nvSpPr>
            <p:cNvPr id="44" name="Loop · out"/>
            <p:cNvSpPr/>
            <p:nvPr/>
          </p:nvSpPr>
          <p:spPr>
            <a:xfrm>
              <a:off x="11304727" y="4828032"/>
              <a:ext cx="12070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oop · up"/>
            <p:cNvSpPr/>
            <p:nvPr/>
          </p:nvSpPr>
          <p:spPr>
            <a:xfrm>
              <a:off x="11425428" y="3438144"/>
              <a:ext cx="0" cy="13898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oop · in"/>
            <p:cNvSpPr/>
            <p:nvPr/>
          </p:nvSpPr>
          <p:spPr>
            <a:xfrm>
              <a:off x="11304727" y="3438144"/>
              <a:ext cx="12070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headEnd type="triangle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ule label"/>
          <p:cNvSpPr txBox="1"/>
          <p:nvPr/>
        </p:nvSpPr>
        <p:spPr>
          <a:xfrm>
            <a:off x="685800" y="3877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tx1"/>
                </a:solidFill>
              </a:rPr>
              <a:t>HOW A </a:t>
            </a:r>
            <a:r>
              <a:rPr lang="en-US" sz="1100" b="1" kern="0" spc="100" dirty="0">
                <a:solidFill>
                  <a:schemeClr val="tx1"/>
                </a:solidFill>
              </a:rPr>
              <a:t>RULE</a:t>
            </a:r>
            <a:r>
              <a:rPr lang="en-US" sz="1100" kern="0" spc="100" dirty="0">
                <a:solidFill>
                  <a:schemeClr val="tx1"/>
                </a:solidFill>
              </a:rPr>
              <a:t> WORKS</a:t>
            </a:r>
            <a:endParaRPr lang="en-US" sz="1100" dirty="0"/>
          </a:p>
        </p:txBody>
      </p:sp>
      <p:grpSp>
        <p:nvGrpSpPr>
          <p:cNvPr id="85" name="Rule fact 1"/>
          <p:cNvGrpSpPr/>
          <p:nvPr/>
        </p:nvGrpSpPr>
        <p:grpSpPr>
          <a:xfrm>
            <a:off x="822960" y="4258612"/>
            <a:ext cx="1325880" cy="438912"/>
            <a:chOff x="822960" y="4151376"/>
            <a:chExt cx="1325880" cy="438912"/>
          </a:xfrm>
        </p:grpSpPr>
        <p:sp>
          <p:nvSpPr>
            <p:cNvPr id="48" name="Rule fact 1 · chip"/>
            <p:cNvSpPr/>
            <p:nvPr/>
          </p:nvSpPr>
          <p:spPr>
            <a:xfrm>
              <a:off x="822960" y="4151376"/>
              <a:ext cx="1325880" cy="438912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ule fact 1 · name"/>
            <p:cNvSpPr txBox="1"/>
            <p:nvPr/>
          </p:nvSpPr>
          <p:spPr>
            <a:xfrm>
              <a:off x="905256" y="4187952"/>
              <a:ext cx="11612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chemeClr val="tx1"/>
                  </a:solidFill>
                </a:rPr>
                <a:t>Insider info</a:t>
              </a:r>
              <a:endParaRPr lang="en-US" sz="1250" dirty="0"/>
            </a:p>
          </p:txBody>
        </p:sp>
        <p:sp>
          <p:nvSpPr>
            <p:cNvPr id="50" name="Rule fact 1 · track"/>
            <p:cNvSpPr/>
            <p:nvPr/>
          </p:nvSpPr>
          <p:spPr>
            <a:xfrm>
              <a:off x="905256" y="4462272"/>
              <a:ext cx="722376" cy="45720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ule fact 1 · bar"/>
            <p:cNvSpPr/>
            <p:nvPr/>
          </p:nvSpPr>
          <p:spPr>
            <a:xfrm>
              <a:off x="905256" y="4462272"/>
              <a:ext cx="679033" cy="4572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ule fact 1 · value"/>
            <p:cNvSpPr txBox="1"/>
            <p:nvPr/>
          </p:nvSpPr>
          <p:spPr>
            <a:xfrm>
              <a:off x="1682496" y="4389120"/>
              <a:ext cx="3840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b="1" dirty="0">
                  <a:solidFill>
                    <a:schemeClr val="tx1"/>
                  </a:solidFill>
                </a:rPr>
                <a:t>0.94</a:t>
              </a:r>
              <a:endParaRPr lang="en-US" sz="1150" dirty="0"/>
            </a:p>
          </p:txBody>
        </p:sp>
      </p:grpSp>
      <p:grpSp>
        <p:nvGrpSpPr>
          <p:cNvPr id="86" name="Rule fact 2"/>
          <p:cNvGrpSpPr/>
          <p:nvPr/>
        </p:nvGrpSpPr>
        <p:grpSpPr>
          <a:xfrm>
            <a:off x="822960" y="4770676"/>
            <a:ext cx="1325880" cy="438912"/>
            <a:chOff x="822960" y="4663440"/>
            <a:chExt cx="1325880" cy="438912"/>
          </a:xfrm>
        </p:grpSpPr>
        <p:sp>
          <p:nvSpPr>
            <p:cNvPr id="53" name="Rule fact 2 · chip"/>
            <p:cNvSpPr/>
            <p:nvPr/>
          </p:nvSpPr>
          <p:spPr>
            <a:xfrm>
              <a:off x="822960" y="4663440"/>
              <a:ext cx="1325880" cy="438912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ule fact 2 · name"/>
            <p:cNvSpPr txBox="1"/>
            <p:nvPr/>
          </p:nvSpPr>
          <p:spPr>
            <a:xfrm>
              <a:off x="905256" y="4700016"/>
              <a:ext cx="11612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chemeClr val="tx1"/>
                  </a:solidFill>
                </a:rPr>
                <a:t>Buy order</a:t>
              </a:r>
              <a:endParaRPr lang="en-US" sz="1250" dirty="0"/>
            </a:p>
          </p:txBody>
        </p:sp>
        <p:sp>
          <p:nvSpPr>
            <p:cNvPr id="55" name="Rule fact 2 · track"/>
            <p:cNvSpPr/>
            <p:nvPr/>
          </p:nvSpPr>
          <p:spPr>
            <a:xfrm>
              <a:off x="905256" y="4974336"/>
              <a:ext cx="722376" cy="45720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ule fact 2 · bar"/>
            <p:cNvSpPr/>
            <p:nvPr/>
          </p:nvSpPr>
          <p:spPr>
            <a:xfrm>
              <a:off x="905256" y="4974336"/>
              <a:ext cx="657362" cy="4572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ule fact 2 · value"/>
            <p:cNvSpPr txBox="1"/>
            <p:nvPr/>
          </p:nvSpPr>
          <p:spPr>
            <a:xfrm>
              <a:off x="1682496" y="4901184"/>
              <a:ext cx="3840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b="1" dirty="0">
                  <a:solidFill>
                    <a:schemeClr val="tx1"/>
                  </a:solidFill>
                </a:rPr>
                <a:t>0.91</a:t>
              </a:r>
              <a:endParaRPr lang="en-US" sz="1150" dirty="0"/>
            </a:p>
          </p:txBody>
        </p:sp>
      </p:grpSp>
      <p:grpSp>
        <p:nvGrpSpPr>
          <p:cNvPr id="87" name="Rule wires"/>
          <p:cNvGrpSpPr/>
          <p:nvPr/>
        </p:nvGrpSpPr>
        <p:grpSpPr>
          <a:xfrm>
            <a:off x="731520" y="4446064"/>
            <a:ext cx="1508760" cy="928116"/>
            <a:chOff x="731520" y="4338828"/>
            <a:chExt cx="1508760" cy="928116"/>
          </a:xfrm>
        </p:grpSpPr>
        <p:sp>
          <p:nvSpPr>
            <p:cNvPr id="58" name="Rule wires · 1"/>
            <p:cNvSpPr/>
            <p:nvPr/>
          </p:nvSpPr>
          <p:spPr>
            <a:xfrm>
              <a:off x="731520" y="4370832"/>
              <a:ext cx="617220" cy="896112"/>
            </a:xfrm>
            <a:custGeom>
              <a:avLst/>
              <a:gdLst/>
              <a:ahLst/>
              <a:cxnLst/>
              <a:rect l="l" t="t" r="r" b="b"/>
              <a:pathLst>
                <a:path w="617220" h="896112">
                  <a:moveTo>
                    <a:pt x="91440" y="0"/>
                  </a:moveTo>
                  <a:lnTo>
                    <a:pt x="0" y="0"/>
                  </a:lnTo>
                  <a:lnTo>
                    <a:pt x="0" y="813816"/>
                  </a:lnTo>
                  <a:lnTo>
                    <a:pt x="617220" y="813816"/>
                  </a:lnTo>
                  <a:lnTo>
                    <a:pt x="617220" y="89611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ule wires · 2"/>
            <p:cNvSpPr/>
            <p:nvPr/>
          </p:nvSpPr>
          <p:spPr>
            <a:xfrm>
              <a:off x="1623060" y="4882896"/>
              <a:ext cx="617220" cy="384048"/>
            </a:xfrm>
            <a:custGeom>
              <a:avLst/>
              <a:gdLst/>
              <a:ahLst/>
              <a:cxnLst/>
              <a:rect l="l" t="t" r="r" b="b"/>
              <a:pathLst>
                <a:path w="617220" h="384048">
                  <a:moveTo>
                    <a:pt x="525780" y="0"/>
                  </a:moveTo>
                  <a:lnTo>
                    <a:pt x="617220" y="0"/>
                  </a:lnTo>
                  <a:lnTo>
                    <a:pt x="617220" y="301752"/>
                  </a:lnTo>
                  <a:lnTo>
                    <a:pt x="0" y="301752"/>
                  </a:lnTo>
                  <a:lnTo>
                    <a:pt x="0" y="384048"/>
                  </a:lnTo>
                </a:path>
              </a:pathLst>
            </a:custGeom>
            <a:noFill/>
            <a:ln w="1587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ule wires · dot 1"/>
            <p:cNvSpPr/>
            <p:nvPr/>
          </p:nvSpPr>
          <p:spPr>
            <a:xfrm>
              <a:off x="790956" y="4338828"/>
              <a:ext cx="64008" cy="64008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ule wires · dot 2"/>
            <p:cNvSpPr/>
            <p:nvPr/>
          </p:nvSpPr>
          <p:spPr>
            <a:xfrm>
              <a:off x="2116836" y="4850892"/>
              <a:ext cx="64008" cy="64008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8" name="Rule gate"/>
          <p:cNvGrpSpPr/>
          <p:nvPr/>
        </p:nvGrpSpPr>
        <p:grpSpPr>
          <a:xfrm>
            <a:off x="1220724" y="5374180"/>
            <a:ext cx="530352" cy="365760"/>
            <a:chOff x="1220724" y="5266944"/>
            <a:chExt cx="530352" cy="365760"/>
          </a:xfrm>
        </p:grpSpPr>
        <p:sp>
          <p:nvSpPr>
            <p:cNvPr id="62" name="Rule gate · shape"/>
            <p:cNvSpPr/>
            <p:nvPr/>
          </p:nvSpPr>
          <p:spPr>
            <a:xfrm>
              <a:off x="1220724" y="5266944"/>
              <a:ext cx="530352" cy="365760"/>
            </a:xfrm>
            <a:custGeom>
              <a:avLst/>
              <a:gdLst/>
              <a:ahLst/>
              <a:cxnLst/>
              <a:rect l="l" t="t" r="r" b="b"/>
              <a:pathLst>
                <a:path w="530352" h="365760">
                  <a:moveTo>
                    <a:pt x="0" y="0"/>
                  </a:moveTo>
                  <a:lnTo>
                    <a:pt x="530352" y="0"/>
                  </a:lnTo>
                  <a:lnTo>
                    <a:pt x="530352" y="100584"/>
                  </a:lnTo>
                  <a:arcTo wR="265176" hR="265176" stAng="0" swAng="10800000"/>
                  <a:close/>
                </a:path>
              </a:pathLst>
            </a:custGeom>
            <a:solidFill>
              <a:schemeClr val="accent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ule gate · text"/>
            <p:cNvSpPr txBox="1"/>
            <p:nvPr/>
          </p:nvSpPr>
          <p:spPr>
            <a:xfrm>
              <a:off x="1220724" y="5294376"/>
              <a:ext cx="53035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50" dirty="0">
                  <a:solidFill>
                    <a:schemeClr val="bg1"/>
                  </a:solidFill>
                </a:rPr>
                <a:t>AND</a:t>
              </a:r>
              <a:endParaRPr lang="en-US" sz="1200" dirty="0"/>
            </a:p>
          </p:txBody>
        </p:sp>
      </p:grpSp>
      <p:sp>
        <p:nvSpPr>
          <p:cNvPr id="64" name="Rule out"/>
          <p:cNvSpPr/>
          <p:nvPr/>
        </p:nvSpPr>
        <p:spPr>
          <a:xfrm>
            <a:off x="1485900" y="5739940"/>
            <a:ext cx="0" cy="10972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89" name="Rule alert"/>
          <p:cNvGrpSpPr/>
          <p:nvPr/>
        </p:nvGrpSpPr>
        <p:grpSpPr>
          <a:xfrm>
            <a:off x="1161288" y="5867956"/>
            <a:ext cx="950976" cy="256032"/>
            <a:chOff x="1161288" y="5760720"/>
            <a:chExt cx="950976" cy="256032"/>
          </a:xfrm>
        </p:grpSpPr>
        <p:sp>
          <p:nvSpPr>
            <p:cNvPr id="65" name="Rule alert · square"/>
            <p:cNvSpPr/>
            <p:nvPr/>
          </p:nvSpPr>
          <p:spPr>
            <a:xfrm>
              <a:off x="1161288" y="5820156"/>
              <a:ext cx="137160" cy="1371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ule alert · text"/>
            <p:cNvSpPr txBox="1"/>
            <p:nvPr/>
          </p:nvSpPr>
          <p:spPr>
            <a:xfrm>
              <a:off x="1380744" y="5760720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1"/>
                  </a:solidFill>
                </a:rPr>
                <a:t>Alert</a:t>
              </a:r>
              <a:endParaRPr lang="en-US" sz="1400" dirty="0"/>
            </a:p>
          </p:txBody>
        </p:sp>
      </p:grpSp>
      <p:grpSp>
        <p:nvGrpSpPr>
          <p:cNvPr id="90" name="Key"/>
          <p:cNvGrpSpPr/>
          <p:nvPr/>
        </p:nvGrpSpPr>
        <p:grpSpPr>
          <a:xfrm>
            <a:off x="685800" y="6163056"/>
            <a:ext cx="8540496" cy="219456"/>
            <a:chOff x="685800" y="6163056"/>
            <a:chExt cx="8540496" cy="219456"/>
          </a:xfrm>
        </p:grpSpPr>
        <p:sp>
          <p:nvSpPr>
            <p:cNvPr id="67" name="Key · flow"/>
            <p:cNvSpPr/>
            <p:nvPr/>
          </p:nvSpPr>
          <p:spPr>
            <a:xfrm>
              <a:off x="685800" y="6272784"/>
              <a:ext cx="3657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Key · flow text"/>
            <p:cNvSpPr txBox="1"/>
            <p:nvPr/>
          </p:nvSpPr>
          <p:spPr>
            <a:xfrm>
              <a:off x="1143000" y="6163056"/>
              <a:ext cx="9144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Data flow</a:t>
              </a:r>
              <a:endParaRPr lang="en-US" sz="1100" dirty="0"/>
            </a:p>
          </p:txBody>
        </p:sp>
        <p:sp>
          <p:nvSpPr>
            <p:cNvPr id="69" name="Key · custom"/>
            <p:cNvSpPr/>
            <p:nvPr/>
          </p:nvSpPr>
          <p:spPr>
            <a:xfrm>
              <a:off x="2011680" y="6272784"/>
              <a:ext cx="3657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Key · custom text"/>
            <p:cNvSpPr txBox="1"/>
            <p:nvPr/>
          </p:nvSpPr>
          <p:spPr>
            <a:xfrm>
              <a:off x="2468880" y="6163056"/>
              <a:ext cx="14630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User customization</a:t>
              </a:r>
              <a:endParaRPr lang="en-US" sz="1100" dirty="0"/>
            </a:p>
          </p:txBody>
        </p:sp>
        <p:sp>
          <p:nvSpPr>
            <p:cNvPr id="71" name="Key · swatch 1"/>
            <p:cNvSpPr/>
            <p:nvPr/>
          </p:nvSpPr>
          <p:spPr>
            <a:xfrm>
              <a:off x="4114800" y="6204204"/>
              <a:ext cx="137160" cy="137160"/>
            </a:xfrm>
            <a:prstGeom prst="rect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Key · swatch text 1"/>
            <p:cNvSpPr txBox="1"/>
            <p:nvPr/>
          </p:nvSpPr>
          <p:spPr>
            <a:xfrm>
              <a:off x="4334256" y="616305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Fine-tuned model</a:t>
              </a:r>
              <a:endParaRPr lang="en-US" sz="1100" dirty="0"/>
            </a:p>
          </p:txBody>
        </p:sp>
        <p:sp>
          <p:nvSpPr>
            <p:cNvPr id="73" name="Key · swatch 2"/>
            <p:cNvSpPr/>
            <p:nvPr/>
          </p:nvSpPr>
          <p:spPr>
            <a:xfrm>
              <a:off x="5715000" y="6204204"/>
              <a:ext cx="137160" cy="13716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Key · swatch text 2"/>
            <p:cNvSpPr txBox="1"/>
            <p:nvPr/>
          </p:nvSpPr>
          <p:spPr>
            <a:xfrm>
              <a:off x="5934456" y="616305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Decision</a:t>
              </a:r>
              <a:endParaRPr lang="en-US" sz="1100" dirty="0"/>
            </a:p>
          </p:txBody>
        </p:sp>
        <p:sp>
          <p:nvSpPr>
            <p:cNvPr id="75" name="Key · swatch 3"/>
            <p:cNvSpPr/>
            <p:nvPr/>
          </p:nvSpPr>
          <p:spPr>
            <a:xfrm>
              <a:off x="6766560" y="6204204"/>
              <a:ext cx="137160" cy="13716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Key · swatch text 3"/>
            <p:cNvSpPr txBox="1"/>
            <p:nvPr/>
          </p:nvSpPr>
          <p:spPr>
            <a:xfrm>
              <a:off x="6986016" y="616305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Result</a:t>
              </a:r>
              <a:endParaRPr lang="en-US" sz="1100" dirty="0"/>
            </a:p>
          </p:txBody>
        </p:sp>
        <p:sp>
          <p:nvSpPr>
            <p:cNvPr id="77" name="Key · swatch 4"/>
            <p:cNvSpPr/>
            <p:nvPr/>
          </p:nvSpPr>
          <p:spPr>
            <a:xfrm>
              <a:off x="7635240" y="6204204"/>
              <a:ext cx="137160" cy="137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Key · swatch text 4"/>
            <p:cNvSpPr txBox="1"/>
            <p:nvPr/>
          </p:nvSpPr>
          <p:spPr>
            <a:xfrm>
              <a:off x="7854696" y="616305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Step</a:t>
              </a:r>
              <a:endParaRPr lang="en-US" sz="11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1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6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86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7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8" hasCustomPrompt="1"/>
          </p:nvPr>
        </p:nvSpPr>
        <p:spPr>
          <a:xfrm>
            <a:off x="502920" y="3236976"/>
            <a:ext cx="171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chemeClr val="tx1"/>
                </a:solidFill>
              </a:rPr>
              <a:t>03 LIVE DEMO</a:t>
            </a:r>
            <a:endParaRPr lang="en-US" sz="1050" dirty="0"/>
          </a:p>
        </p:txBody>
      </p:sp>
      <p:sp>
        <p:nvSpPr>
          <p:cNvPr id="3" name="Title"/>
          <p:cNvSpPr>
            <a:spLocks noGrp="1"/>
          </p:cNvSpPr>
          <p:nvPr>
            <p:ph type="title" idx="109" hasCustomPrompt="1"/>
          </p:nvPr>
        </p:nvSpPr>
        <p:spPr>
          <a:xfrm>
            <a:off x="2319985" y="2907792"/>
            <a:ext cx="92910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00" b="1" kern="0" spc="-260" dirty="0">
                <a:solidFill>
                  <a:schemeClr val="tx1"/>
                </a:solidFill>
              </a:rPr>
              <a:t>Live demo</a:t>
            </a:r>
            <a:endParaRPr lang="en-US" sz="10400" dirty="0"/>
          </a:p>
        </p:txBody>
      </p:sp>
      <p:sp>
        <p:nvSpPr>
          <p:cNvPr id="4" name="Nav 1"/>
          <p:cNvSpPr txBox="1"/>
          <p:nvPr/>
        </p:nvSpPr>
        <p:spPr>
          <a:xfrm>
            <a:off x="334510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5" name="Nav 2"/>
          <p:cNvSpPr txBox="1"/>
          <p:nvPr/>
        </p:nvSpPr>
        <p:spPr>
          <a:xfrm>
            <a:off x="476242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How it works</a:t>
            </a:r>
            <a:endParaRPr lang="en-US" sz="950" dirty="0"/>
          </a:p>
        </p:txBody>
      </p:sp>
      <p:sp>
        <p:nvSpPr>
          <p:cNvPr id="6" name="Nav 3"/>
          <p:cNvSpPr txBox="1"/>
          <p:nvPr/>
        </p:nvSpPr>
        <p:spPr>
          <a:xfrm>
            <a:off x="6179744" y="320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03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Live demo</a:t>
            </a:r>
            <a:endParaRPr lang="en-US" sz="950" dirty="0"/>
          </a:p>
        </p:txBody>
      </p:sp>
      <p:sp>
        <p:nvSpPr>
          <p:cNvPr id="7" name="Live marker"/>
          <p:cNvSpPr/>
          <p:nvPr/>
        </p:nvSpPr>
        <p:spPr>
          <a:xfrm>
            <a:off x="502920" y="3712464"/>
            <a:ext cx="512064" cy="5120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Demo 1"/>
          <p:cNvSpPr txBox="1"/>
          <p:nvPr/>
        </p:nvSpPr>
        <p:spPr>
          <a:xfrm>
            <a:off x="502920" y="4864608"/>
            <a:ext cx="2659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01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Core flow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chemeClr val="tx2"/>
                </a:solidFill>
              </a:rPr>
              <a:t>Upload a call, then open the top hit: scores, rule, passage.</a:t>
            </a:r>
            <a:endParaRPr lang="en-US" sz="1050" dirty="0"/>
          </a:p>
        </p:txBody>
      </p:sp>
      <p:sp>
        <p:nvSpPr>
          <p:cNvPr id="9" name="Demo 2"/>
          <p:cNvSpPr txBox="1"/>
          <p:nvPr/>
        </p:nvSpPr>
        <p:spPr>
          <a:xfrm>
            <a:off x="3345104" y="4864608"/>
            <a:ext cx="2659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02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Tuning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chemeClr val="tx2"/>
                </a:solidFill>
              </a:rPr>
              <a:t>A rule in plain words, live. New questions wait for 4-eyes.</a:t>
            </a:r>
            <a:endParaRPr lang="en-US" sz="1050" dirty="0"/>
          </a:p>
        </p:txBody>
      </p:sp>
      <p:sp>
        <p:nvSpPr>
          <p:cNvPr id="10" name="Demo 3"/>
          <p:cNvSpPr txBox="1"/>
          <p:nvPr/>
        </p:nvSpPr>
        <p:spPr>
          <a:xfrm>
            <a:off x="6187288" y="4864608"/>
            <a:ext cx="2659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03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Borderline case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chemeClr val="tx2"/>
                </a:solidFill>
              </a:rPr>
              <a:t>A keyword, but no rule fires: no alert.</a:t>
            </a:r>
            <a:endParaRPr lang="en-US" sz="1050" dirty="0"/>
          </a:p>
        </p:txBody>
      </p:sp>
      <p:sp>
        <p:nvSpPr>
          <p:cNvPr id="11" name="Demo 4"/>
          <p:cNvSpPr txBox="1"/>
          <p:nvPr/>
        </p:nvSpPr>
        <p:spPr>
          <a:xfrm>
            <a:off x="9029471" y="4864608"/>
            <a:ext cx="2659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04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</a:t>
            </a:r>
            <a:endParaRPr lang="en-US" sz="1050" dirty="0"/>
          </a:p>
          <a:p>
            <a:pPr marL="0" indent="0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chemeClr val="tx2"/>
                </a:solidFill>
              </a:rPr>
              <a:t>Results against the Inventx assessments.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Sherlock Swiss">
  <a:themeElements>
    <a:clrScheme name="Sherlock Swiss">
      <a:dk1>
        <a:srgbClr val="000000"/>
      </a:dk1>
      <a:lt1>
        <a:srgbClr val="FFFFFF"/>
      </a:lt1>
      <a:dk2>
        <a:srgbClr val="5C5C5C"/>
      </a:dk2>
      <a:lt2>
        <a:srgbClr val="EDEDED"/>
      </a:lt2>
      <a:accent1>
        <a:srgbClr val="E3000F"/>
      </a:accent1>
      <a:accent2>
        <a:srgbClr val="8C8C8C"/>
      </a:accent2>
      <a:accent3>
        <a:srgbClr val="BCBCBC"/>
      </a:accent3>
      <a:accent4>
        <a:srgbClr val="D8D8D8"/>
      </a:accent4>
      <a:accent5>
        <a:srgbClr val="FCECEA"/>
      </a:accent5>
      <a:accent6>
        <a:srgbClr val="1A1A1A"/>
      </a:accent6>
      <a:hlink>
        <a:srgbClr val="E3000F"/>
      </a:hlink>
      <a:folHlink>
        <a:srgbClr val="8C8C8C"/>
      </a:folHlink>
    </a:clrScheme>
    <a:fontScheme name="Sherlock Swiss">
      <a:majorFont>
        <a:latin typeface="Helvetica Neue" panose="020B0604020202020204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 panose="020B0604020202020204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829</Words>
  <Application>Microsoft Macintosh PowerPoint</Application>
  <PresentationFormat>Widescreen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Sherlock Swiss</vt:lpstr>
      <vt:lpstr>Sherlock Phones</vt:lpstr>
      <vt:lpstr>Banks check samples. Fraud hides in the rest.</vt:lpstr>
      <vt:lpstr>Kev scores, Qwen pinpoints, rules decide.</vt:lpstr>
      <vt:lpstr>Live demo</vt:lpstr>
    </vt:vector>
  </TitlesOfParts>
  <Company>Sherlock Phones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Sherlock Phones · Final pitch</dc:title>
  <dc:subject>Case Inventx × Outcept · sprintd Zurich 2026</dc:subject>
  <dc:creator>Sherlock Phones</dc:creator>
  <cp:lastModifiedBy>Paul Schroff</cp:lastModifiedBy>
  <cp:revision>9</cp:revision>
  <dcterms:created xsi:type="dcterms:W3CDTF">2026-10-10T21:39:05Z</dcterms:created>
  <dcterms:modified xsi:type="dcterms:W3CDTF">2026-10-11T06:17:27Z</dcterms:modified>
</cp:coreProperties>
</file>